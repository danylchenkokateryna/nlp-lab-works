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38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7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olab.research.google.com/github/DanylchenkoKateryna/NLP-Lab-works/blob/main/notebooks/final_demo.ipynb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olab.research.google.com/github/DanylchenkoKateryna/NLP-Lab-works/blob/main/notebooks/final_demo.ipynb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1502" y="1188720"/>
            <a:ext cx="73152" cy="2194560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514623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Pipeline: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Автоматична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класифікація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текстів</a:t>
            </a:r>
            <a:endParaRPr lang="en-US" sz="2800" dirty="0"/>
          </a:p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36563" y="2430194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 err="1" smtClean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</a:t>
            </a:r>
            <a:r>
              <a:rPr lang="en-US" sz="1800" dirty="0" smtClean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 smtClean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сирих</a:t>
            </a:r>
            <a:r>
              <a:rPr lang="en-US" sz="1800" dirty="0" smtClean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 smtClean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даних</a:t>
            </a:r>
            <a:r>
              <a:rPr lang="en-US" sz="1800" dirty="0" smtClean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 smtClean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</a:t>
            </a:r>
            <a:r>
              <a:rPr lang="en-US" sz="1800" dirty="0" smtClean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 smtClean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</a:t>
            </a:r>
            <a:r>
              <a:rPr lang="en-US" sz="1800" dirty="0" smtClean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flow ·</a:t>
            </a:r>
            <a:r>
              <a:rPr lang="uk-UA" sz="1800" dirty="0" smtClean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класифікація текстів</a:t>
            </a:r>
            <a:endParaRPr lang="en-US" dirty="0"/>
          </a:p>
        </p:txBody>
      </p:sp>
      <p:sp>
        <p:nvSpPr>
          <p:cNvPr id="17" name="Text 2"/>
          <p:cNvSpPr/>
          <p:nvPr/>
        </p:nvSpPr>
        <p:spPr>
          <a:xfrm>
            <a:off x="685800" y="3824067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uk-UA" smtClean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Виконала:</a:t>
            </a:r>
            <a:endParaRPr lang="uk-UA" dirty="0" smtClean="0">
              <a:solidFill>
                <a:srgbClr val="64B5F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uk-UA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</a:t>
            </a:r>
            <a:r>
              <a:rPr lang="uk-UA" dirty="0" smtClean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т. гр. ПМІД-11</a:t>
            </a:r>
          </a:p>
          <a:p>
            <a:r>
              <a:rPr lang="uk-UA" dirty="0" smtClean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Данильченко Катерина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6035040" y="4297680"/>
            <a:ext cx="2834640" cy="621792"/>
          </a:xfrm>
          <a:prstGeom prst="rect">
            <a:avLst/>
          </a:prstGeom>
          <a:solidFill>
            <a:srgbClr val="1B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4297680"/>
            <a:ext cx="36576" cy="621792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4768" y="4334256"/>
            <a:ext cx="2697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BB6A"/>
                </a:solidFill>
              </a:rPr>
              <a:t>Demo Notebook  </a:t>
            </a:r>
            <a:r>
              <a:rPr sz="1100">
                <a:solidFill>
                  <a:srgbClr val="90A4AE"/>
                </a:solidFill>
              </a:rPr>
              <a:t>(Google Colab)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457200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i="1">
                <a:solidFill>
                  <a:srgbClr val="64B5F6"/>
                </a:solidFill>
                <a:hlinkClick r:id="rId2"/>
              </a:rPr>
              <a:t>Open in Colab -&gt;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6 383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88366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31181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43525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мова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63240" y="1188720"/>
            <a:ext cx="0" cy="3566160"/>
          </a:xfrm>
          <a:prstGeom prst="line">
            <a:avLst/>
          </a:prstGeom>
          <a:noFill/>
          <a:ln w="12700">
            <a:solidFill>
              <a:srgbClr val="2E40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32588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Джерело: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 Newsgroups (sklearn / Kaggle)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214884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Класи: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атеїзм · електроніка · християнство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297180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Розмітка: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</a:t>
            </a:r>
            <a:r>
              <a:rPr lang="en-US" sz="14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38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31 / 31%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379476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leak: </a:t>
            </a:r>
            <a:r>
              <a:rPr sz="1400">
                <a:solidFill>
                  <a:srgbClr val="FFFFFF"/>
                </a:solidFill>
              </a:rPr>
              <a:t>62% документiв мали мiтку класу -&gt; +3 pp штучно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73" name="Shape 2"/>
          <p:cNvSpPr/>
          <p:nvPr/>
        </p:nvSpPr>
        <p:spPr>
          <a:xfrm>
            <a:off x="1028700" y="1234440"/>
            <a:ext cx="1234440" cy="658368"/>
          </a:xfrm>
          <a:prstGeom prst="rect">
            <a:avLst/>
          </a:prstGeom>
          <a:solidFill>
            <a:srgbClr val="24305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74" name="Text 3"/>
          <p:cNvSpPr/>
          <p:nvPr/>
        </p:nvSpPr>
        <p:spPr>
          <a:xfrm>
            <a:off x="1028700" y="123444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Збір</a:t>
            </a:r>
            <a:endParaRPr lang="en-US" sz="1200" dirty="0"/>
          </a:p>
        </p:txBody>
      </p:sp>
      <p:sp>
        <p:nvSpPr>
          <p:cNvPr id="75" name="Shape 4"/>
          <p:cNvSpPr/>
          <p:nvPr/>
        </p:nvSpPr>
        <p:spPr>
          <a:xfrm>
            <a:off x="2263140" y="1563624"/>
            <a:ext cx="182880" cy="0"/>
          </a:xfrm>
          <a:prstGeom prst="line">
            <a:avLst/>
          </a:prstGeom>
          <a:noFill/>
          <a:ln w="25400">
            <a:solidFill>
              <a:srgbClr val="64B5F6"/>
            </a:solidFill>
            <a:prstDash val="solid"/>
          </a:ln>
        </p:spPr>
      </p:sp>
      <p:sp>
        <p:nvSpPr>
          <p:cNvPr id="76" name="Shape 5"/>
          <p:cNvSpPr/>
          <p:nvPr/>
        </p:nvSpPr>
        <p:spPr>
          <a:xfrm>
            <a:off x="2446020" y="1234440"/>
            <a:ext cx="1234440" cy="658368"/>
          </a:xfrm>
          <a:prstGeom prst="rect">
            <a:avLst/>
          </a:prstGeom>
          <a:solidFill>
            <a:srgbClr val="24305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77" name="Text 6"/>
          <p:cNvSpPr/>
          <p:nvPr/>
        </p:nvSpPr>
        <p:spPr>
          <a:xfrm>
            <a:off x="2446020" y="123444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Очищення</a:t>
            </a:r>
            <a:r>
              <a:rPr lang="uk-UA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і нормалізація</a:t>
            </a:r>
            <a:endParaRPr lang="en-US" sz="1200" dirty="0"/>
          </a:p>
        </p:txBody>
      </p:sp>
      <p:sp>
        <p:nvSpPr>
          <p:cNvPr id="78" name="Shape 7"/>
          <p:cNvSpPr/>
          <p:nvPr/>
        </p:nvSpPr>
        <p:spPr>
          <a:xfrm>
            <a:off x="3680460" y="1563624"/>
            <a:ext cx="182880" cy="0"/>
          </a:xfrm>
          <a:prstGeom prst="line">
            <a:avLst/>
          </a:prstGeom>
          <a:noFill/>
          <a:ln w="25400">
            <a:solidFill>
              <a:srgbClr val="64B5F6"/>
            </a:solidFill>
            <a:prstDash val="solid"/>
          </a:ln>
        </p:spPr>
      </p:sp>
      <p:sp>
        <p:nvSpPr>
          <p:cNvPr id="79" name="Shape 8"/>
          <p:cNvSpPr/>
          <p:nvPr/>
        </p:nvSpPr>
        <p:spPr>
          <a:xfrm>
            <a:off x="3863340" y="1234440"/>
            <a:ext cx="1234440" cy="658368"/>
          </a:xfrm>
          <a:prstGeom prst="rect">
            <a:avLst/>
          </a:prstGeom>
          <a:solidFill>
            <a:srgbClr val="24305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80" name="Text 9"/>
          <p:cNvSpPr/>
          <p:nvPr/>
        </p:nvSpPr>
        <p:spPr>
          <a:xfrm>
            <a:off x="3863340" y="123444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Лематизація</a:t>
            </a:r>
            <a:endParaRPr lang="en-US" sz="1200" dirty="0"/>
          </a:p>
        </p:txBody>
      </p:sp>
      <p:sp>
        <p:nvSpPr>
          <p:cNvPr id="81" name="Shape 10"/>
          <p:cNvSpPr/>
          <p:nvPr/>
        </p:nvSpPr>
        <p:spPr>
          <a:xfrm>
            <a:off x="5097780" y="1563624"/>
            <a:ext cx="182880" cy="0"/>
          </a:xfrm>
          <a:prstGeom prst="line">
            <a:avLst/>
          </a:prstGeom>
          <a:noFill/>
          <a:ln w="25400">
            <a:solidFill>
              <a:srgbClr val="64B5F6"/>
            </a:solidFill>
            <a:prstDash val="solid"/>
          </a:ln>
        </p:spPr>
      </p:sp>
      <p:sp>
        <p:nvSpPr>
          <p:cNvPr id="82" name="Shape 11"/>
          <p:cNvSpPr/>
          <p:nvPr/>
        </p:nvSpPr>
        <p:spPr>
          <a:xfrm>
            <a:off x="5280660" y="1234440"/>
            <a:ext cx="1234440" cy="658368"/>
          </a:xfrm>
          <a:prstGeom prst="rect">
            <a:avLst/>
          </a:prstGeom>
          <a:solidFill>
            <a:srgbClr val="24305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83" name="Text 12"/>
          <p:cNvSpPr/>
          <p:nvPr/>
        </p:nvSpPr>
        <p:spPr>
          <a:xfrm>
            <a:off x="5280660" y="123444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</a:t>
            </a:r>
            <a:endParaRPr lang="en-US" sz="1200" dirty="0"/>
          </a:p>
        </p:txBody>
      </p:sp>
      <p:sp>
        <p:nvSpPr>
          <p:cNvPr id="84" name="Shape 13"/>
          <p:cNvSpPr/>
          <p:nvPr/>
        </p:nvSpPr>
        <p:spPr>
          <a:xfrm>
            <a:off x="6515100" y="1563624"/>
            <a:ext cx="182880" cy="0"/>
          </a:xfrm>
          <a:prstGeom prst="line">
            <a:avLst/>
          </a:prstGeom>
          <a:noFill/>
          <a:ln w="25400">
            <a:solidFill>
              <a:srgbClr val="64B5F6"/>
            </a:solidFill>
            <a:prstDash val="solid"/>
          </a:ln>
        </p:spPr>
      </p:sp>
      <p:sp>
        <p:nvSpPr>
          <p:cNvPr id="85" name="Text 15"/>
          <p:cNvSpPr/>
          <p:nvPr/>
        </p:nvSpPr>
        <p:spPr>
          <a:xfrm>
            <a:off x="6697980" y="123444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86" name="Shape 17"/>
          <p:cNvSpPr/>
          <p:nvPr/>
        </p:nvSpPr>
        <p:spPr>
          <a:xfrm>
            <a:off x="6697980" y="1229868"/>
            <a:ext cx="1234440" cy="658368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87" name="Text 18"/>
          <p:cNvSpPr/>
          <p:nvPr/>
        </p:nvSpPr>
        <p:spPr>
          <a:xfrm>
            <a:off x="6697980" y="122986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 smtClean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</a:t>
            </a:r>
            <a:r>
              <a:rPr lang="uk-UA" sz="1200" b="1" dirty="0" err="1" smtClean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ікація</a:t>
            </a:r>
            <a:endParaRPr lang="en-US" sz="1200" dirty="0"/>
          </a:p>
        </p:txBody>
      </p:sp>
      <p:sp>
        <p:nvSpPr>
          <p:cNvPr id="88" name="Shape 19"/>
          <p:cNvSpPr/>
          <p:nvPr/>
        </p:nvSpPr>
        <p:spPr>
          <a:xfrm>
            <a:off x="457200" y="2240280"/>
            <a:ext cx="4023360" cy="804672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89" name="Shape 20"/>
          <p:cNvSpPr/>
          <p:nvPr/>
        </p:nvSpPr>
        <p:spPr>
          <a:xfrm>
            <a:off x="457200" y="2240280"/>
            <a:ext cx="54864" cy="804672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90" name="Text 21"/>
          <p:cNvSpPr/>
          <p:nvPr/>
        </p:nvSpPr>
        <p:spPr>
          <a:xfrm>
            <a:off x="594360" y="2286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Моделі</a:t>
            </a:r>
            <a:endParaRPr lang="en-US" sz="1000" dirty="0"/>
          </a:p>
        </p:txBody>
      </p:sp>
      <p:sp>
        <p:nvSpPr>
          <p:cNvPr id="91" name="Text 22"/>
          <p:cNvSpPr/>
          <p:nvPr/>
        </p:nvSpPr>
        <p:spPr>
          <a:xfrm>
            <a:off x="594360" y="2606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Logistic Regression</a:t>
            </a:r>
            <a:endParaRPr lang="en-US" sz="1300" dirty="0"/>
          </a:p>
        </p:txBody>
      </p:sp>
      <p:sp>
        <p:nvSpPr>
          <p:cNvPr id="92" name="Shape 23"/>
          <p:cNvSpPr/>
          <p:nvPr/>
        </p:nvSpPr>
        <p:spPr>
          <a:xfrm>
            <a:off x="4709160" y="2240280"/>
            <a:ext cx="4023360" cy="804672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93" name="Shape 24"/>
          <p:cNvSpPr/>
          <p:nvPr/>
        </p:nvSpPr>
        <p:spPr>
          <a:xfrm>
            <a:off x="4709160" y="2240280"/>
            <a:ext cx="54864" cy="804672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94" name="Text 25"/>
          <p:cNvSpPr/>
          <p:nvPr/>
        </p:nvSpPr>
        <p:spPr>
          <a:xfrm>
            <a:off x="4846320" y="2286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Бібліотеки</a:t>
            </a:r>
            <a:endParaRPr lang="en-US" sz="1000" dirty="0"/>
          </a:p>
        </p:txBody>
      </p:sp>
      <p:sp>
        <p:nvSpPr>
          <p:cNvPr id="95" name="Text 26"/>
          <p:cNvSpPr/>
          <p:nvPr/>
        </p:nvSpPr>
        <p:spPr>
          <a:xfrm>
            <a:off x="4846320" y="2606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· nltk · stanza · pandas</a:t>
            </a:r>
            <a:endParaRPr lang="en-US" sz="1300" dirty="0"/>
          </a:p>
        </p:txBody>
      </p:sp>
      <p:sp>
        <p:nvSpPr>
          <p:cNvPr id="96" name="Shape 27"/>
          <p:cNvSpPr/>
          <p:nvPr/>
        </p:nvSpPr>
        <p:spPr>
          <a:xfrm>
            <a:off x="457200" y="3200400"/>
            <a:ext cx="4023360" cy="804672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97" name="Shape 28"/>
          <p:cNvSpPr/>
          <p:nvPr/>
        </p:nvSpPr>
        <p:spPr>
          <a:xfrm>
            <a:off x="457200" y="3200400"/>
            <a:ext cx="54864" cy="804672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98" name="Text 29"/>
          <p:cNvSpPr/>
          <p:nvPr/>
        </p:nvSpPr>
        <p:spPr>
          <a:xfrm>
            <a:off x="594360" y="3246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</a:t>
            </a:r>
            <a:endParaRPr lang="en-US" sz="1000" dirty="0"/>
          </a:p>
        </p:txBody>
      </p:sp>
      <p:sp>
        <p:nvSpPr>
          <p:cNvPr id="99" name="Text 30"/>
          <p:cNvSpPr/>
          <p:nvPr/>
        </p:nvSpPr>
        <p:spPr>
          <a:xfrm>
            <a:off x="594360" y="35661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94.35% · Macro F1 94.41%</a:t>
            </a:r>
            <a:endParaRPr lang="en-US" sz="1300" dirty="0"/>
          </a:p>
        </p:txBody>
      </p:sp>
      <p:sp>
        <p:nvSpPr>
          <p:cNvPr id="100" name="Shape 31"/>
          <p:cNvSpPr/>
          <p:nvPr/>
        </p:nvSpPr>
        <p:spPr>
          <a:xfrm>
            <a:off x="4709160" y="3200400"/>
            <a:ext cx="4023360" cy="804672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01" name="Shape 32"/>
          <p:cNvSpPr/>
          <p:nvPr/>
        </p:nvSpPr>
        <p:spPr>
          <a:xfrm>
            <a:off x="4709160" y="3200400"/>
            <a:ext cx="54864" cy="804672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102" name="Text 33"/>
          <p:cNvSpPr/>
          <p:nvPr/>
        </p:nvSpPr>
        <p:spPr>
          <a:xfrm>
            <a:off x="4846320" y="3246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 entities</a:t>
            </a:r>
            <a:endParaRPr lang="en-US" sz="1000" dirty="0"/>
          </a:p>
        </p:txBody>
      </p:sp>
      <p:sp>
        <p:nvSpPr>
          <p:cNvPr id="103" name="Text 34"/>
          <p:cNvSpPr/>
          <p:nvPr/>
        </p:nvSpPr>
        <p:spPr>
          <a:xfrm>
            <a:off x="4846320" y="35661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· ELEC_QTY · SCRIPTURE_REF</a:t>
            </a:r>
            <a:endParaRPr lang="en-US" sz="1300" dirty="0"/>
          </a:p>
        </p:txBody>
      </p:sp>
      <p:sp>
        <p:nvSpPr>
          <p:cNvPr id="104" name="Прямоугольник 103"/>
          <p:cNvSpPr/>
          <p:nvPr/>
        </p:nvSpPr>
        <p:spPr>
          <a:xfrm>
            <a:off x="457200" y="393633"/>
            <a:ext cx="155844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ru-RU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8321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Embeddings · NER · LLM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22960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A4AE"/>
                </a:solidFill>
              </a:rPr>
              <a:t>Labs 8–11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82881" y="1220725"/>
            <a:ext cx="2651760" cy="1828800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1" y="1220725"/>
            <a:ext cx="36576" cy="18288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1" y="1293877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B5F6"/>
                </a:solidFill>
              </a:rPr>
              <a:t>Topic Modeling (Lab 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1" y="1495045"/>
            <a:ext cx="2514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LDA: 3 теми = 3 категорiї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electronics: circuit, voltage,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  resistor, transistor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religion теми: змiшанi через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  спiльну лексику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1" y="1220725"/>
            <a:ext cx="2651760" cy="1828800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017521" y="1220725"/>
            <a:ext cx="36576" cy="18288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08961" y="1293877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B5F6"/>
                </a:solidFill>
              </a:rPr>
              <a:t>Word Embeddings (Lab 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1" y="1495045"/>
            <a:ext cx="2514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Word2Vec: добре для частих слiв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FastText: краще для рiдкiсних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  + морфологiчно складних</a:t>
            </a:r>
          </a:p>
          <a:p>
            <a:pPr algn="l"/>
            <a:endParaRPr sz="1100" b="0" i="0">
              <a:solidFill>
                <a:srgbClr val="FFFFFF"/>
              </a:solidFill>
            </a:endParaRPr>
          </a:p>
          <a:p>
            <a:pPr algn="l"/>
            <a:r>
              <a:rPr sz="1100" b="0" i="0">
                <a:solidFill>
                  <a:srgbClr val="FFFFFF"/>
                </a:solidFill>
              </a:rPr>
              <a:t>TF-IDF+SVM &gt; embeddings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  на цьому корпусi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1" y="1220725"/>
            <a:ext cx="2651760" cy="1828800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52161" y="1220725"/>
            <a:ext cx="36576" cy="18288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0" y="1293877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B5F6"/>
                </a:solidFill>
              </a:rPr>
              <a:t>NER + LLM (Labs 10–11)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495045"/>
            <a:ext cx="2514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Rule-based NER: детермiновано,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  0 галюцинацiй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LLM: 7-польова JSON schema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Repair loop: error -&gt; re-prompt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Schema enforcement + validation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5" y="3227832"/>
            <a:ext cx="4206240" cy="16459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1" y="3337560"/>
            <a:ext cx="4023359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BB6A"/>
                </a:solidFill>
              </a:rPr>
              <a:t>{</a:t>
            </a:r>
          </a:p>
          <a:p>
            <a:pPr algn="l"/>
            <a:r>
              <a:rPr sz="1000" b="0" i="0">
                <a:solidFill>
                  <a:srgbClr val="66BB6A"/>
                </a:solidFill>
              </a:rPr>
              <a:t>  "category":  "sci.electronics",</a:t>
            </a:r>
          </a:p>
          <a:p>
            <a:pPr algn="l"/>
            <a:r>
              <a:rPr sz="1000" b="0" i="0">
                <a:solidFill>
                  <a:srgbClr val="66BB6A"/>
                </a:solidFill>
              </a:rPr>
              <a:t>  "confidence": 0.91,</a:t>
            </a:r>
          </a:p>
          <a:p>
            <a:pPr algn="l"/>
            <a:r>
              <a:rPr sz="1000" b="0" i="0">
                <a:solidFill>
                  <a:srgbClr val="66BB6A"/>
                </a:solidFill>
              </a:rPr>
              <a:t>  "persons":  ["John Smith"],</a:t>
            </a:r>
          </a:p>
          <a:p>
            <a:pPr algn="l"/>
            <a:r>
              <a:rPr sz="1000" b="0" i="0">
                <a:solidFill>
                  <a:srgbClr val="66BB6A"/>
                </a:solidFill>
              </a:rPr>
              <a:t>  "orgs":     ["IEEE"],</a:t>
            </a:r>
          </a:p>
          <a:p>
            <a:pPr algn="l"/>
            <a:r>
              <a:rPr sz="1000" b="0" i="0">
                <a:solidFill>
                  <a:srgbClr val="66BB6A"/>
                </a:solidFill>
              </a:rPr>
              <a:t>  "dates":    ["January 3, 1993"],</a:t>
            </a:r>
          </a:p>
          <a:p>
            <a:pPr algn="l"/>
            <a:r>
              <a:rPr sz="1000" b="0" i="0">
                <a:solidFill>
                  <a:srgbClr val="66BB6A"/>
                </a:solidFill>
              </a:rPr>
              <a:t>  "entities": [{"type":"ELEC_QTY","raw":"5V"}]</a:t>
            </a:r>
          </a:p>
          <a:p>
            <a:pPr algn="l"/>
            <a:r>
              <a:rPr sz="1000" b="0" i="0">
                <a:solidFill>
                  <a:srgbClr val="66BB6A"/>
                </a:solidFill>
              </a:rP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9745" y="3227832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B5F6"/>
                </a:solidFill>
              </a:rPr>
              <a:t>Structured output — формат Lab 11+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09745" y="3593592"/>
            <a:ext cx="3977639" cy="1280160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809745" y="3593592"/>
            <a:ext cx="36576" cy="128016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01184" y="3666744"/>
            <a:ext cx="38404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B5F6"/>
                </a:solidFill>
              </a:rPr>
              <a:t>Проблеми LLM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01184" y="3867911"/>
            <a:ext cx="3840479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Галюцинацiї entities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Порушення schema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-&gt; Repair loop вирiшує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8321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Single Agent з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22960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A4AE"/>
                </a:solidFill>
              </a:rPr>
              <a:t>Lab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7160" y="1435608"/>
            <a:ext cx="3657600" cy="29260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1508760"/>
            <a:ext cx="347472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BB6A"/>
                </a:solidFill>
              </a:rPr>
              <a:t>Input text</a:t>
            </a:r>
          </a:p>
          <a:p>
            <a:pPr algn="l"/>
            <a:r>
              <a:rPr sz="1000" b="0" i="0">
                <a:solidFill>
                  <a:srgbClr val="66BB6A"/>
                </a:solidFill>
              </a:rPr>
              <a:t>    |</a:t>
            </a:r>
          </a:p>
          <a:p>
            <a:pPr algn="l"/>
            <a:r>
              <a:rPr sz="1000" b="0" i="0">
                <a:solidFill>
                  <a:srgbClr val="66BB6A"/>
                </a:solidFill>
              </a:rPr>
              <a:t>    v</a:t>
            </a:r>
          </a:p>
          <a:p>
            <a:pPr algn="l"/>
            <a:r>
              <a:rPr sz="1000" b="0" i="0">
                <a:solidFill>
                  <a:srgbClr val="66BB6A"/>
                </a:solidFill>
              </a:rPr>
              <a:t>SingleAgent</a:t>
            </a:r>
          </a:p>
          <a:p>
            <a:pPr algn="l"/>
            <a:r>
              <a:rPr sz="1000" b="0" i="0">
                <a:solidFill>
                  <a:srgbClr val="66BB6A"/>
                </a:solidFill>
              </a:rPr>
              <a:t>    |</a:t>
            </a:r>
          </a:p>
          <a:p>
            <a:pPr algn="l"/>
            <a:r>
              <a:rPr sz="1000" b="0" i="0">
                <a:solidFill>
                  <a:srgbClr val="66BB6A"/>
                </a:solidFill>
              </a:rPr>
              <a:t>    |-- extract_entities()</a:t>
            </a:r>
          </a:p>
          <a:p>
            <a:pPr algn="l"/>
            <a:r>
              <a:rPr sz="1000" b="0" i="0">
                <a:solidFill>
                  <a:srgbClr val="66BB6A"/>
                </a:solidFill>
              </a:rPr>
              <a:t>    |       persons, orgs,</a:t>
            </a:r>
          </a:p>
          <a:p>
            <a:pPr algn="l"/>
            <a:r>
              <a:rPr sz="1000" b="0" i="0">
                <a:solidFill>
                  <a:srgbClr val="66BB6A"/>
                </a:solidFill>
              </a:rPr>
              <a:t>    |       locations, dates</a:t>
            </a:r>
          </a:p>
          <a:p>
            <a:pPr algn="l"/>
            <a:r>
              <a:rPr sz="1000" b="0" i="0">
                <a:solidFill>
                  <a:srgbClr val="66BB6A"/>
                </a:solidFill>
              </a:rPr>
              <a:t>    |</a:t>
            </a:r>
          </a:p>
          <a:p>
            <a:pPr algn="l"/>
            <a:r>
              <a:rPr sz="1000" b="0" i="0">
                <a:solidFill>
                  <a:srgbClr val="66BB6A"/>
                </a:solidFill>
              </a:rPr>
              <a:t>    |-- classify_category()</a:t>
            </a:r>
          </a:p>
          <a:p>
            <a:pPr algn="l"/>
            <a:r>
              <a:rPr sz="1000" b="0" i="0">
                <a:solidFill>
                  <a:srgbClr val="66BB6A"/>
                </a:solidFill>
              </a:rPr>
              <a:t>    |       category + confidence</a:t>
            </a:r>
          </a:p>
          <a:p>
            <a:pPr algn="l"/>
            <a:r>
              <a:rPr sz="1000" b="0" i="0">
                <a:solidFill>
                  <a:srgbClr val="66BB6A"/>
                </a:solidFill>
              </a:rPr>
              <a:t>    |</a:t>
            </a:r>
          </a:p>
          <a:p>
            <a:pPr algn="l"/>
            <a:r>
              <a:rPr sz="1000" b="0" i="0">
                <a:solidFill>
                  <a:srgbClr val="66BB6A"/>
                </a:solidFill>
              </a:rPr>
              <a:t>    +-- validate_extraction()</a:t>
            </a:r>
          </a:p>
          <a:p>
            <a:pPr algn="l"/>
            <a:r>
              <a:rPr sz="1000" b="0" i="0">
                <a:solidFill>
                  <a:srgbClr val="66BB6A"/>
                </a:solidFill>
              </a:rPr>
              <a:t>            schema + consistency</a:t>
            </a:r>
          </a:p>
          <a:p>
            <a:pPr algn="l"/>
            <a:r>
              <a:rPr sz="1000" b="0" i="0">
                <a:solidFill>
                  <a:srgbClr val="66BB6A"/>
                </a:solidFill>
              </a:rPr>
              <a:t>    |</a:t>
            </a:r>
          </a:p>
          <a:p>
            <a:pPr algn="l"/>
            <a:r>
              <a:rPr sz="1000" b="0" i="0">
                <a:solidFill>
                  <a:srgbClr val="66BB6A"/>
                </a:solidFill>
              </a:rPr>
              <a:t>    v</a:t>
            </a:r>
          </a:p>
          <a:p>
            <a:pPr algn="l"/>
            <a:r>
              <a:rPr sz="1000" b="0" i="0">
                <a:solidFill>
                  <a:srgbClr val="66BB6A"/>
                </a:solidFill>
              </a:rPr>
              <a:t>Structured JSON + JSONL 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500" y="1444752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 dirty="0">
                <a:solidFill>
                  <a:srgbClr val="64B5F6"/>
                </a:solidFill>
              </a:rPr>
              <a:t>96.4%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12140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A4AE"/>
                </a:solidFill>
              </a:rPr>
              <a:t>tool call success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496312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64B5F6"/>
                </a:solidFill>
              </a:rPr>
              <a:t>2.8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9992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A4AE"/>
                </a:solidFill>
              </a:rPr>
              <a:t>avg tool calls /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374136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64B5F6"/>
                </a:solidFill>
              </a:rPr>
              <a:t>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87705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A4AE"/>
                </a:solidFill>
              </a:rPr>
              <a:t>final correct (8/10)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1" y="1490472"/>
            <a:ext cx="2423160" cy="1325880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1" y="1490472"/>
            <a:ext cx="36576" cy="132588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156362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B5F6"/>
                </a:solidFill>
              </a:rPr>
              <a:t>Перевага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764792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Traceable: кожна сутнiсть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пов'язана з tool call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JSONL лог per case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1" y="2926080"/>
            <a:ext cx="2423160" cy="1481328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1" y="2926080"/>
            <a:ext cx="36576" cy="1481328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29992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B5F6"/>
                </a:solidFill>
              </a:rPr>
              <a:t>Обмеження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200400"/>
            <a:ext cx="2286000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Галюцинацiї не виявляються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Немає механiзму fallback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Немає re-validation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8321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Multi-Agent Crew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22960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A4AE"/>
                </a:solidFill>
              </a:rPr>
              <a:t>Lab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408176"/>
            <a:ext cx="4206240" cy="29260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481328"/>
            <a:ext cx="4023359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BB6A"/>
                </a:solidFill>
              </a:rPr>
              <a:t>Input</a:t>
            </a:r>
          </a:p>
          <a:p>
            <a:pPr algn="l"/>
            <a:r>
              <a:rPr sz="1000" b="0" i="0">
                <a:solidFill>
                  <a:srgbClr val="66BB6A"/>
                </a:solidFill>
              </a:rPr>
              <a:t>  -&gt; Triager</a:t>
            </a:r>
          </a:p>
          <a:p>
            <a:pPr algn="l"/>
            <a:r>
              <a:rPr sz="1000" b="0" i="0">
                <a:solidFill>
                  <a:srgbClr val="66BB6A"/>
                </a:solidFill>
              </a:rPr>
              <a:t>       route + difficulty</a:t>
            </a:r>
          </a:p>
          <a:p>
            <a:pPr algn="l"/>
            <a:r>
              <a:rPr sz="1000" b="0" i="0">
                <a:solidFill>
                  <a:srgbClr val="66BB6A"/>
                </a:solidFill>
              </a:rPr>
              <a:t>  -&gt; Extractor</a:t>
            </a:r>
          </a:p>
          <a:p>
            <a:pPr algn="l"/>
            <a:r>
              <a:rPr sz="1000" b="0" i="0">
                <a:solidFill>
                  <a:srgbClr val="66BB6A"/>
                </a:solidFill>
              </a:rPr>
              <a:t>       category + entities</a:t>
            </a:r>
          </a:p>
          <a:p>
            <a:pPr algn="l"/>
            <a:r>
              <a:rPr sz="1000" b="0" i="0">
                <a:solidFill>
                  <a:srgbClr val="66BB6A"/>
                </a:solidFill>
              </a:rPr>
              <a:t>  -&gt; Reviewer  (5 checks)</a:t>
            </a:r>
          </a:p>
          <a:p>
            <a:pPr algn="l"/>
            <a:r>
              <a:rPr sz="1000" b="0" i="0">
                <a:solidFill>
                  <a:srgbClr val="66BB6A"/>
                </a:solidFill>
              </a:rPr>
              <a:t>       |</a:t>
            </a:r>
          </a:p>
          <a:p>
            <a:pPr algn="l"/>
            <a:r>
              <a:rPr sz="1000" b="0" i="0">
                <a:solidFill>
                  <a:srgbClr val="66BB6A"/>
                </a:solidFill>
              </a:rPr>
              <a:t>       |-- accept      -&gt; final output</a:t>
            </a:r>
          </a:p>
          <a:p>
            <a:pPr algn="l"/>
            <a:r>
              <a:rPr sz="1000" b="0" i="0">
                <a:solidFill>
                  <a:srgbClr val="66BB6A"/>
                </a:solidFill>
              </a:rPr>
              <a:t>       |-- repair      -&gt; RepairAgent</a:t>
            </a:r>
          </a:p>
          <a:p>
            <a:pPr algn="l"/>
            <a:r>
              <a:rPr sz="1000" b="0" i="0">
                <a:solidFill>
                  <a:srgbClr val="66BB6A"/>
                </a:solidFill>
              </a:rPr>
              <a:t>       |                  -&gt; re-review</a:t>
            </a:r>
          </a:p>
          <a:p>
            <a:pPr algn="l"/>
            <a:r>
              <a:rPr sz="1000" b="0" i="0">
                <a:solidFill>
                  <a:srgbClr val="66BB6A"/>
                </a:solidFill>
              </a:rPr>
              <a:t>       +-- fallback    -&gt; FallbackHandler</a:t>
            </a:r>
          </a:p>
          <a:p>
            <a:pPr algn="l"/>
            <a:endParaRPr sz="1000" b="0" i="0">
              <a:solidFill>
                <a:srgbClr val="66BB6A"/>
              </a:solidFill>
            </a:endParaRPr>
          </a:p>
          <a:p>
            <a:pPr algn="l"/>
            <a:r>
              <a:rPr sz="1000" b="0" i="0">
                <a:solidFill>
                  <a:srgbClr val="66BB6A"/>
                </a:solidFill>
              </a:rPr>
              <a:t>Reviewer checks:</a:t>
            </a:r>
          </a:p>
          <a:p>
            <a:pPr algn="l"/>
            <a:r>
              <a:rPr sz="1000" b="0" i="0">
                <a:solidFill>
                  <a:srgbClr val="66BB6A"/>
                </a:solidFill>
              </a:rPr>
              <a:t>  schema / consistency /</a:t>
            </a:r>
          </a:p>
          <a:p>
            <a:pPr algn="l"/>
            <a:r>
              <a:rPr sz="1000" b="0" i="0">
                <a:solidFill>
                  <a:srgbClr val="66BB6A"/>
                </a:solidFill>
              </a:rPr>
              <a:t>  hallucination / completeness / dates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408176"/>
            <a:ext cx="2311400" cy="329184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9744" y="1444752"/>
            <a:ext cx="2219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B5F6"/>
                </a:solidFill>
              </a:rPr>
              <a:t>Метрика</a:t>
            </a:r>
          </a:p>
        </p:txBody>
      </p:sp>
      <p:sp>
        <p:nvSpPr>
          <p:cNvPr id="9" name="Rectangle 8"/>
          <p:cNvSpPr/>
          <p:nvPr/>
        </p:nvSpPr>
        <p:spPr>
          <a:xfrm>
            <a:off x="7066280" y="1408176"/>
            <a:ext cx="924560" cy="329184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21144" y="1444752"/>
            <a:ext cx="83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B5F6"/>
                </a:solidFill>
              </a:rPr>
              <a:t>Crew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0839" y="1408176"/>
            <a:ext cx="924560" cy="329184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5703" y="1444752"/>
            <a:ext cx="83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B5F6"/>
                </a:solidFill>
              </a:rPr>
              <a:t>Single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737360"/>
            <a:ext cx="2311400" cy="329184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09744" y="1773936"/>
            <a:ext cx="2219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Valid final 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66280" y="1737360"/>
            <a:ext cx="924560" cy="329184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21144" y="1773936"/>
            <a:ext cx="83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90%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0839" y="1737360"/>
            <a:ext cx="924560" cy="329184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5703" y="1773936"/>
            <a:ext cx="83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80%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2066544"/>
            <a:ext cx="2311400" cy="329184"/>
          </a:xfrm>
          <a:prstGeom prst="rect">
            <a:avLst/>
          </a:prstGeom>
          <a:solidFill>
            <a:srgbClr val="1C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09744" y="2103120"/>
            <a:ext cx="2219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Hallucinations caught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66280" y="2066544"/>
            <a:ext cx="924560" cy="329184"/>
          </a:xfrm>
          <a:prstGeom prst="rect">
            <a:avLst/>
          </a:prstGeom>
          <a:solidFill>
            <a:srgbClr val="1C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21144" y="2103120"/>
            <a:ext cx="83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90839" y="2066544"/>
            <a:ext cx="924560" cy="329184"/>
          </a:xfrm>
          <a:prstGeom prst="rect">
            <a:avLst/>
          </a:prstGeom>
          <a:solidFill>
            <a:srgbClr val="1C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5703" y="2103120"/>
            <a:ext cx="83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2395728"/>
            <a:ext cx="2311400" cy="329184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09744" y="2432304"/>
            <a:ext cx="2219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Fallback activation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66280" y="2395728"/>
            <a:ext cx="924560" cy="329184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21144" y="2432304"/>
            <a:ext cx="83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60%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90839" y="2395728"/>
            <a:ext cx="924560" cy="329184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45703" y="2432304"/>
            <a:ext cx="83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0" y="2724912"/>
            <a:ext cx="2311400" cy="329184"/>
          </a:xfrm>
          <a:prstGeom prst="rect">
            <a:avLst/>
          </a:prstGeom>
          <a:solidFill>
            <a:srgbClr val="1C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09744" y="2761488"/>
            <a:ext cx="2219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Avg agents / case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66280" y="2724912"/>
            <a:ext cx="924560" cy="329184"/>
          </a:xfrm>
          <a:prstGeom prst="rect">
            <a:avLst/>
          </a:prstGeom>
          <a:solidFill>
            <a:srgbClr val="1C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121144" y="2761488"/>
            <a:ext cx="83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4.0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90839" y="2724912"/>
            <a:ext cx="924560" cy="329184"/>
          </a:xfrm>
          <a:prstGeom prst="rect">
            <a:avLst/>
          </a:prstGeom>
          <a:solidFill>
            <a:srgbClr val="1C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45703" y="2761488"/>
            <a:ext cx="83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1.0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54880" y="3236976"/>
            <a:ext cx="4160520" cy="502920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754880" y="3236976"/>
            <a:ext cx="36576" cy="50292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46320" y="3310128"/>
            <a:ext cx="40233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B5F6"/>
                </a:solidFill>
              </a:rPr>
              <a:t>+10 pp vs Single Agent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3511295"/>
            <a:ext cx="40233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ReviewerAgent + контрольований fallback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54880" y="3877056"/>
            <a:ext cx="4160520" cy="502920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754880" y="3877056"/>
            <a:ext cx="36576" cy="50292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846320" y="3950208"/>
            <a:ext cx="40233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B5F6"/>
                </a:solidFill>
              </a:rPr>
              <a:t>100% hallucinations caught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0" y="4151376"/>
            <a:ext cx="40233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Незалежна перевiрка кожного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8321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Stateful Flow — ГОЛОВНИЙ РЕЗУЛЬТАТ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22960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A4AE"/>
                </a:solidFill>
              </a:rPr>
              <a:t>Lab 14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7160" y="1216152"/>
            <a:ext cx="4206240" cy="3703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1289304"/>
            <a:ext cx="4023359" cy="3593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BB6A"/>
                </a:solidFill>
              </a:rPr>
              <a:t>Input</a:t>
            </a:r>
          </a:p>
          <a:p>
            <a:pPr algn="l"/>
            <a:r>
              <a:rPr sz="900" b="0" i="0">
                <a:solidFill>
                  <a:srgbClr val="66BB6A"/>
                </a:solidFill>
              </a:rPr>
              <a:t> -&gt; ingest   (case_id, clean_text)</a:t>
            </a:r>
          </a:p>
          <a:p>
            <a:pPr algn="l"/>
            <a:r>
              <a:rPr sz="900" b="0" i="0">
                <a:solidFill>
                  <a:srgbClr val="66BB6A"/>
                </a:solidFill>
              </a:rPr>
              <a:t> -&gt; route    (keyword scoring)</a:t>
            </a:r>
          </a:p>
          <a:p>
            <a:pPr algn="l"/>
            <a:r>
              <a:rPr sz="900" b="0" i="0">
                <a:solidFill>
                  <a:srgbClr val="66BB6A"/>
                </a:solidFill>
              </a:rPr>
              <a:t> -&gt; execute  (entities + category)</a:t>
            </a:r>
          </a:p>
          <a:p>
            <a:pPr algn="l"/>
            <a:r>
              <a:rPr sz="900" b="0" i="0">
                <a:solidFill>
                  <a:srgbClr val="66BB6A"/>
                </a:solidFill>
              </a:rPr>
              <a:t> -&gt; validate (6 checks)</a:t>
            </a:r>
          </a:p>
          <a:p>
            <a:pPr algn="l"/>
            <a:r>
              <a:rPr sz="900" b="0" i="0">
                <a:solidFill>
                  <a:srgbClr val="66BB6A"/>
                </a:solidFill>
              </a:rPr>
              <a:t>      |</a:t>
            </a:r>
          </a:p>
          <a:p>
            <a:pPr algn="l"/>
            <a:r>
              <a:rPr sz="900" b="0" i="0">
                <a:solidFill>
                  <a:srgbClr val="66BB6A"/>
                </a:solidFill>
              </a:rPr>
              <a:t>      |-- accept           -&gt; exported</a:t>
            </a:r>
          </a:p>
          <a:p>
            <a:pPr algn="l"/>
            <a:r>
              <a:rPr sz="900" b="0" i="0">
                <a:solidFill>
                  <a:srgbClr val="66BB6A"/>
                </a:solidFill>
              </a:rPr>
              <a:t>      |-- export_with_warn -&gt; w/ warning</a:t>
            </a:r>
          </a:p>
          <a:p>
            <a:pPr algn="l"/>
            <a:r>
              <a:rPr sz="900" b="0" i="0">
                <a:solidFill>
                  <a:srgbClr val="66BB6A"/>
                </a:solidFill>
              </a:rPr>
              <a:t>      |-- repair  -&gt; fix -&gt; re-validate</a:t>
            </a:r>
          </a:p>
          <a:p>
            <a:pPr algn="l"/>
            <a:r>
              <a:rPr sz="900" b="0" i="0">
                <a:solidFill>
                  <a:srgbClr val="66BB6A"/>
                </a:solidFill>
              </a:rPr>
              <a:t>      |     ok    -&gt; accepted_after_repair</a:t>
            </a:r>
          </a:p>
          <a:p>
            <a:pPr algn="l"/>
            <a:r>
              <a:rPr sz="900" b="0" i="0">
                <a:solidFill>
                  <a:srgbClr val="66BB6A"/>
                </a:solidFill>
              </a:rPr>
              <a:t>      |     fail  -&gt; manual_review</a:t>
            </a:r>
          </a:p>
          <a:p>
            <a:pPr algn="l"/>
            <a:r>
              <a:rPr sz="900" b="0" i="0">
                <a:solidFill>
                  <a:srgbClr val="66BB6A"/>
                </a:solidFill>
              </a:rPr>
              <a:t>      |-- fallback -&gt; re-extract</a:t>
            </a:r>
          </a:p>
          <a:p>
            <a:pPr algn="l"/>
            <a:r>
              <a:rPr sz="900" b="0" i="0">
                <a:solidFill>
                  <a:srgbClr val="66BB6A"/>
                </a:solidFill>
              </a:rPr>
              <a:t>      |-- manual_review -&gt; escalate</a:t>
            </a:r>
          </a:p>
          <a:p>
            <a:pPr algn="l"/>
            <a:r>
              <a:rPr sz="900" b="0" i="0">
                <a:solidFill>
                  <a:srgbClr val="66BB6A"/>
                </a:solidFill>
              </a:rPr>
              <a:t>      +-- safe_failure  -&gt; status=failed</a:t>
            </a:r>
          </a:p>
          <a:p>
            <a:pPr algn="l"/>
            <a:r>
              <a:rPr sz="900" b="0" i="0">
                <a:solidFill>
                  <a:srgbClr val="66BB6A"/>
                </a:solidFill>
              </a:rPr>
              <a:t> -&gt; export  (JSON + Markdown + CSV)</a:t>
            </a:r>
          </a:p>
          <a:p>
            <a:pPr algn="l"/>
            <a:r>
              <a:rPr sz="900" b="0" i="0">
                <a:solidFill>
                  <a:srgbClr val="66BB6A"/>
                </a:solidFill>
              </a:rPr>
              <a:t> -&gt; JSONL log</a:t>
            </a:r>
          </a:p>
        </p:txBody>
      </p:sp>
      <p:sp>
        <p:nvSpPr>
          <p:cNvPr id="7" name="Rectangle 6"/>
          <p:cNvSpPr/>
          <p:nvPr/>
        </p:nvSpPr>
        <p:spPr>
          <a:xfrm>
            <a:off x="4617720" y="1216152"/>
            <a:ext cx="2571750" cy="329184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72583" y="1252728"/>
            <a:ext cx="24803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B5F6"/>
                </a:solidFill>
              </a:rPr>
              <a:t>Метрика</a:t>
            </a:r>
          </a:p>
        </p:txBody>
      </p:sp>
      <p:sp>
        <p:nvSpPr>
          <p:cNvPr id="9" name="Rectangle 8"/>
          <p:cNvSpPr/>
          <p:nvPr/>
        </p:nvSpPr>
        <p:spPr>
          <a:xfrm>
            <a:off x="7189470" y="1216152"/>
            <a:ext cx="1543050" cy="329184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44333" y="1252728"/>
            <a:ext cx="14516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B5F6"/>
                </a:solidFill>
              </a:rPr>
              <a:t>Значення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545336"/>
            <a:ext cx="2571750" cy="329184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72583" y="1581912"/>
            <a:ext cx="24803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Flow completion 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89470" y="1545336"/>
            <a:ext cx="1543050" cy="329184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44333" y="1581912"/>
            <a:ext cx="14516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10/10 = 100%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1874520"/>
            <a:ext cx="2571750" cy="329184"/>
          </a:xfrm>
          <a:prstGeom prst="rect">
            <a:avLst/>
          </a:prstGeom>
          <a:solidFill>
            <a:srgbClr val="1C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72583" y="1911096"/>
            <a:ext cx="24803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Validation pass 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89470" y="1874520"/>
            <a:ext cx="1543050" cy="329184"/>
          </a:xfrm>
          <a:prstGeom prst="rect">
            <a:avLst/>
          </a:prstGeom>
          <a:solidFill>
            <a:srgbClr val="1C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44333" y="1911096"/>
            <a:ext cx="14516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4/10 = 40%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2203704"/>
            <a:ext cx="2571750" cy="329184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72583" y="2240280"/>
            <a:ext cx="24803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Fallback activation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89470" y="2203704"/>
            <a:ext cx="1543050" cy="329184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44333" y="2240280"/>
            <a:ext cx="14516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6/10 = 60%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7720" y="2532888"/>
            <a:ext cx="2571750" cy="329184"/>
          </a:xfrm>
          <a:prstGeom prst="rect">
            <a:avLst/>
          </a:prstGeom>
          <a:solidFill>
            <a:srgbClr val="1C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72583" y="2569464"/>
            <a:ext cx="24803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Fallback success 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89470" y="2532888"/>
            <a:ext cx="1543050" cy="329184"/>
          </a:xfrm>
          <a:prstGeom prst="rect">
            <a:avLst/>
          </a:prstGeom>
          <a:solidFill>
            <a:srgbClr val="1C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44333" y="2569464"/>
            <a:ext cx="14516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4/6 = 67%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7720" y="2862071"/>
            <a:ext cx="2571750" cy="329184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72583" y="2898647"/>
            <a:ext cx="24803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Export valid rate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89470" y="2862071"/>
            <a:ext cx="1543050" cy="329184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44333" y="2898647"/>
            <a:ext cx="14516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10/10 = 100%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17720" y="3191255"/>
            <a:ext cx="2571750" cy="329184"/>
          </a:xfrm>
          <a:prstGeom prst="rect">
            <a:avLst/>
          </a:prstGeom>
          <a:solidFill>
            <a:srgbClr val="1C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72583" y="3227831"/>
            <a:ext cx="24803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Avg steps per case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89470" y="3191255"/>
            <a:ext cx="1543050" cy="329184"/>
          </a:xfrm>
          <a:prstGeom prst="rect">
            <a:avLst/>
          </a:prstGeom>
          <a:solidFill>
            <a:srgbClr val="1C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244333" y="3227831"/>
            <a:ext cx="14516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6.1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17720" y="3840480"/>
            <a:ext cx="4114800" cy="548640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617720" y="3840480"/>
            <a:ext cx="36576" cy="54864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54296" y="3840480"/>
            <a:ext cx="3977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64B5F6"/>
                </a:solidFill>
              </a:rPr>
              <a:t>FlowState</a:t>
            </a:r>
            <a:endParaRPr sz="1100" b="1" i="0" dirty="0">
              <a:solidFill>
                <a:srgbClr val="64B5F6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636008" y="4000500"/>
            <a:ext cx="3977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FFFFFF"/>
                </a:solidFill>
              </a:rPr>
              <a:t>Єдине</a:t>
            </a:r>
            <a:r>
              <a:rPr sz="1000" b="0" i="0" dirty="0">
                <a:solidFill>
                  <a:srgbClr val="FFFFFF"/>
                </a:solidFill>
              </a:rPr>
              <a:t> </a:t>
            </a:r>
            <a:r>
              <a:rPr sz="1000" b="0" i="0" dirty="0" err="1">
                <a:solidFill>
                  <a:srgbClr val="FFFFFF"/>
                </a:solidFill>
              </a:rPr>
              <a:t>джерело</a:t>
            </a:r>
            <a:r>
              <a:rPr sz="1000" b="0" i="0" dirty="0">
                <a:solidFill>
                  <a:srgbClr val="FFFFFF"/>
                </a:solidFill>
              </a:rPr>
              <a:t> </a:t>
            </a:r>
            <a:r>
              <a:rPr sz="1000" b="0" i="0" dirty="0" err="1">
                <a:solidFill>
                  <a:srgbClr val="FFFFFF"/>
                </a:solidFill>
              </a:rPr>
              <a:t>правди</a:t>
            </a:r>
            <a:r>
              <a:rPr sz="1000" b="0" i="0" dirty="0">
                <a:solidFill>
                  <a:srgbClr val="FFFFFF"/>
                </a:solidFill>
              </a:rPr>
              <a:t> — 20+ </a:t>
            </a:r>
            <a:r>
              <a:rPr sz="1000" b="0" i="0" dirty="0" err="1">
                <a:solidFill>
                  <a:srgbClr val="FFFFFF"/>
                </a:solidFill>
              </a:rPr>
              <a:t>полiв</a:t>
            </a:r>
            <a:r>
              <a:rPr sz="1000" b="0" i="0" dirty="0">
                <a:solidFill>
                  <a:srgbClr val="FFFFFF"/>
                </a:solidFill>
              </a:rPr>
              <a:t>,</a:t>
            </a:r>
          </a:p>
          <a:p>
            <a:pPr algn="l"/>
            <a:r>
              <a:rPr sz="1000" b="0" i="0" dirty="0">
                <a:solidFill>
                  <a:srgbClr val="FFFFFF"/>
                </a:solidFill>
              </a:rPr>
              <a:t>threads </a:t>
            </a:r>
            <a:r>
              <a:rPr sz="1000" b="0" i="0" dirty="0" err="1">
                <a:solidFill>
                  <a:srgbClr val="FFFFFF"/>
                </a:solidFill>
              </a:rPr>
              <a:t>через</a:t>
            </a:r>
            <a:r>
              <a:rPr sz="1000" b="0" i="0" dirty="0">
                <a:solidFill>
                  <a:srgbClr val="FFFFFF"/>
                </a:solidFill>
              </a:rPr>
              <a:t> </a:t>
            </a:r>
            <a:r>
              <a:rPr sz="1000" b="0" i="0" dirty="0" err="1">
                <a:solidFill>
                  <a:srgbClr val="FFFFFF"/>
                </a:solidFill>
              </a:rPr>
              <a:t>всi</a:t>
            </a:r>
            <a:r>
              <a:rPr sz="1000" b="0" i="0" dirty="0">
                <a:solidFill>
                  <a:srgbClr val="FFFFFF"/>
                </a:solidFill>
              </a:rPr>
              <a:t> 5 </a:t>
            </a:r>
            <a:r>
              <a:rPr sz="1000" b="0" i="0" dirty="0" err="1">
                <a:solidFill>
                  <a:srgbClr val="FFFFFF"/>
                </a:solidFill>
              </a:rPr>
              <a:t>стадiй</a:t>
            </a:r>
            <a:endParaRPr sz="1000" b="0" i="0" dirty="0">
              <a:solidFill>
                <a:srgbClr val="FFFFFF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583680" y="4370832"/>
            <a:ext cx="2331720" cy="502920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0" y="4370832"/>
            <a:ext cx="36576" cy="50292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4443984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4B5F6"/>
                </a:solidFill>
              </a:rPr>
              <a:t>Live Demo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464515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FFFFF"/>
                </a:solidFill>
                <a:hlinkClick r:id="rId2"/>
              </a:rPr>
              <a:t>final_demo.ipynb (Colab)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8321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Flow: приклади роботи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22960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90A4AE"/>
                </a:solidFill>
              </a:rPr>
              <a:t>Lab 14 · Test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0876" y="1115568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6BB6A"/>
                </a:solidFill>
              </a:rPr>
              <a:t>Успiшнi кейси — fallback спрацював</a:t>
            </a:r>
          </a:p>
        </p:txBody>
      </p:sp>
      <p:sp>
        <p:nvSpPr>
          <p:cNvPr id="6" name="Rectangle 5"/>
          <p:cNvSpPr/>
          <p:nvPr/>
        </p:nvSpPr>
        <p:spPr>
          <a:xfrm>
            <a:off x="196596" y="1508760"/>
            <a:ext cx="2651760" cy="1417320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96596" y="1508760"/>
            <a:ext cx="36576" cy="141732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8036" y="1581912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B5F6"/>
                </a:solidFill>
              </a:rPr>
              <a:t>case_005 — галюцинацiя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" y="178308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Injected: Hewlett-Packard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(не згадується в текстi)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-&gt; validator caught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-&gt; fallback re-extracted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-&gt; HP removed -&gt; OK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85516" y="1508760"/>
            <a:ext cx="2651760" cy="1417320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985516" y="1508760"/>
            <a:ext cx="36576" cy="141732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76956" y="1581912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B5F6"/>
                </a:solidFill>
              </a:rPr>
              <a:t>case_006 — wrong 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6956" y="178308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Dawkins/atheism text,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pre-extracted: christian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-&gt; keyword rescore caught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-&gt; repair: corrected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-&gt; alt.atheism -&gt; OK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74436" y="1508760"/>
            <a:ext cx="2651760" cy="1417320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74436" y="1508760"/>
            <a:ext cx="36576" cy="141732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65876" y="1581912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B5F6"/>
                </a:solidFill>
              </a:rPr>
              <a:t>case_002 — schema error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5876" y="178308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locations: string not list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-&gt; schema check caught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-&gt; repair: cast to list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-&gt; accepted_after_repair</a:t>
            </a:r>
          </a:p>
          <a:p>
            <a:pPr algn="l"/>
            <a:endParaRPr sz="1000" b="0" i="0">
              <a:solidFill>
                <a:srgbClr val="FFFF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96596" y="3090672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56B"/>
                </a:solidFill>
              </a:rPr>
              <a:t>Проблемнi кейси — fallback не допомiг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6596" y="3410712"/>
            <a:ext cx="3977639" cy="1463040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96596" y="3410712"/>
            <a:ext cx="36576" cy="146304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8036" y="3483864"/>
            <a:ext cx="38404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B5F6"/>
                </a:solidFill>
              </a:rPr>
              <a:t>case_007 — амбiгвацiя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" y="3685032"/>
            <a:ext cx="38404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christian + electronics tie,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+ injected hallucination.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Fallback re-extracted, але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текст справдi неоднозначний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-&gt; manual_review (ескалацiя)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57116" y="3410712"/>
            <a:ext cx="3977639" cy="1463040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57116" y="3410712"/>
            <a:ext cx="36576" cy="146304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48556" y="3483864"/>
            <a:ext cx="38404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B5F6"/>
                </a:solidFill>
              </a:rPr>
              <a:t>case_010 — порожнiй вхiд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8556" y="3685032"/>
            <a:ext cx="38404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Empty string -&gt; route=empty_input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-&gt; execute marks _extraction_failed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-&gt; safe_failure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status=failed, needs_manual_review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Структурована вiдповiдь, не exception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8321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Порiвняння пiдходiв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22960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A4AE"/>
                </a:solidFill>
              </a:rPr>
              <a:t>Ad-hoc -&gt; Agent -&gt; Crew -&gt;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7074" y="1289304"/>
            <a:ext cx="2647603" cy="329184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1938" y="1325880"/>
            <a:ext cx="25561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B5F6"/>
                </a:solidFill>
              </a:rPr>
              <a:t>Пiдхiд</a:t>
            </a:r>
          </a:p>
        </p:txBody>
      </p:sp>
      <p:sp>
        <p:nvSpPr>
          <p:cNvPr id="7" name="Rectangle 6"/>
          <p:cNvSpPr/>
          <p:nvPr/>
        </p:nvSpPr>
        <p:spPr>
          <a:xfrm>
            <a:off x="2974677" y="1289304"/>
            <a:ext cx="1134687" cy="329184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29541" y="1325880"/>
            <a:ext cx="10432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B5F6"/>
                </a:solidFill>
              </a:rPr>
              <a:t>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4109364" y="1289304"/>
            <a:ext cx="1512916" cy="329184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64228" y="1325880"/>
            <a:ext cx="14214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B5F6"/>
                </a:solidFill>
              </a:rPr>
              <a:t>Hallucin.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2281" y="1289304"/>
            <a:ext cx="1512916" cy="329184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77145" y="1325880"/>
            <a:ext cx="14214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B5F6"/>
                </a:solidFill>
              </a:rPr>
              <a:t>Контроль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5197" y="1289304"/>
            <a:ext cx="1512916" cy="329184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90061" y="1325880"/>
            <a:ext cx="14214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B5F6"/>
                </a:solidFill>
              </a:rPr>
              <a:t>Debug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7074" y="1618488"/>
            <a:ext cx="2647603" cy="329184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1938" y="1655064"/>
            <a:ext cx="25561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Ad-hoc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74677" y="1618488"/>
            <a:ext cx="1134687" cy="329184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29541" y="1655064"/>
            <a:ext cx="10432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50%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09364" y="1618488"/>
            <a:ext cx="1512916" cy="329184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64228" y="1655064"/>
            <a:ext cx="14214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не виявл.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2281" y="1618488"/>
            <a:ext cx="1512916" cy="329184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77145" y="1655064"/>
            <a:ext cx="14214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низький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5197" y="1618488"/>
            <a:ext cx="1512916" cy="329184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90061" y="1655064"/>
            <a:ext cx="14214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немає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7074" y="1947672"/>
            <a:ext cx="2647603" cy="329184"/>
          </a:xfrm>
          <a:prstGeom prst="rect">
            <a:avLst/>
          </a:prstGeom>
          <a:solidFill>
            <a:srgbClr val="1C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1938" y="1984248"/>
            <a:ext cx="25561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Single Agent (Lab 12)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74677" y="1947672"/>
            <a:ext cx="1134687" cy="329184"/>
          </a:xfrm>
          <a:prstGeom prst="rect">
            <a:avLst/>
          </a:prstGeom>
          <a:solidFill>
            <a:srgbClr val="1C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029541" y="1984248"/>
            <a:ext cx="10432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80%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09364" y="1947672"/>
            <a:ext cx="1512916" cy="329184"/>
          </a:xfrm>
          <a:prstGeom prst="rect">
            <a:avLst/>
          </a:prstGeom>
          <a:solidFill>
            <a:srgbClr val="1C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64228" y="1984248"/>
            <a:ext cx="14214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не виявл.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22281" y="1947672"/>
            <a:ext cx="1512916" cy="329184"/>
          </a:xfrm>
          <a:prstGeom prst="rect">
            <a:avLst/>
          </a:prstGeom>
          <a:solidFill>
            <a:srgbClr val="1C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77145" y="1984248"/>
            <a:ext cx="14214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середнiй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5197" y="1947672"/>
            <a:ext cx="1512916" cy="329184"/>
          </a:xfrm>
          <a:prstGeom prst="rect">
            <a:avLst/>
          </a:prstGeom>
          <a:solidFill>
            <a:srgbClr val="1C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190061" y="1984248"/>
            <a:ext cx="14214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JSONL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7074" y="2276856"/>
            <a:ext cx="2647603" cy="329184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81938" y="2313432"/>
            <a:ext cx="25561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Crew (Lab 13)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74677" y="2276856"/>
            <a:ext cx="1134687" cy="329184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029541" y="2313432"/>
            <a:ext cx="10432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80%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09364" y="2276856"/>
            <a:ext cx="1512916" cy="329184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164228" y="2313432"/>
            <a:ext cx="14214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100% catch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22281" y="2276856"/>
            <a:ext cx="1512916" cy="329184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677145" y="2313432"/>
            <a:ext cx="14214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високий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5197" y="2276856"/>
            <a:ext cx="1512916" cy="329184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190061" y="2313432"/>
            <a:ext cx="14214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per-agent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7074" y="2606040"/>
            <a:ext cx="2647603" cy="329184"/>
          </a:xfrm>
          <a:prstGeom prst="rect">
            <a:avLst/>
          </a:prstGeom>
          <a:solidFill>
            <a:srgbClr val="1C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81938" y="2642616"/>
            <a:ext cx="25561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Stateful Flow (Lab 14)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74677" y="2606040"/>
            <a:ext cx="1134687" cy="329184"/>
          </a:xfrm>
          <a:prstGeom prst="rect">
            <a:avLst/>
          </a:prstGeom>
          <a:solidFill>
            <a:srgbClr val="1C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029541" y="2642616"/>
            <a:ext cx="10432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80%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09364" y="2606040"/>
            <a:ext cx="1512916" cy="329184"/>
          </a:xfrm>
          <a:prstGeom prst="rect">
            <a:avLst/>
          </a:prstGeom>
          <a:solidFill>
            <a:srgbClr val="1C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164228" y="2642616"/>
            <a:ext cx="14214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100% catch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22281" y="2606040"/>
            <a:ext cx="1512916" cy="329184"/>
          </a:xfrm>
          <a:prstGeom prst="rect">
            <a:avLst/>
          </a:prstGeom>
          <a:solidFill>
            <a:srgbClr val="1C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677145" y="2642616"/>
            <a:ext cx="14214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найвищий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35197" y="2606040"/>
            <a:ext cx="1512916" cy="329184"/>
          </a:xfrm>
          <a:prstGeom prst="rect">
            <a:avLst/>
          </a:prstGeom>
          <a:solidFill>
            <a:srgbClr val="1C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190061" y="2642616"/>
            <a:ext cx="14214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step-by-step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7074" y="3072384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4B5F6"/>
                </a:solidFill>
              </a:rPr>
              <a:t>Де Flow перевищує Crew: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8514" y="341985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4B5F6"/>
                </a:solidFill>
              </a:rPr>
              <a:t>FlowState object</a:t>
            </a:r>
            <a:r>
              <a:rPr sz="1300">
                <a:solidFill>
                  <a:srgbClr val="FFFFFF"/>
                </a:solidFill>
              </a:rPr>
              <a:t>— статус та данi видно на кожному кроцi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8514" y="373989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4B5F6"/>
                </a:solidFill>
              </a:rPr>
              <a:t>Structured export</a:t>
            </a:r>
            <a:r>
              <a:rPr sz="1300">
                <a:solidFill>
                  <a:srgbClr val="FFFFFF"/>
                </a:solidFill>
              </a:rPr>
              <a:t>— JSON+MD+CSV навiть при failure (status=failed, не exception)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8514" y="405993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4B5F6"/>
                </a:solidFill>
              </a:rPr>
              <a:t>Memory policy</a:t>
            </a:r>
            <a:r>
              <a:rPr sz="1300">
                <a:solidFill>
                  <a:srgbClr val="FFFFFF"/>
                </a:solidFill>
              </a:rPr>
              <a:t>— чiтке розмежування чернеток i truth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8514" y="4379975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4B5F6"/>
                </a:solidFill>
              </a:rPr>
              <a:t>Audit trail steps[]</a:t>
            </a:r>
            <a:r>
              <a:rPr sz="1300">
                <a:solidFill>
                  <a:srgbClr val="FFFFFF"/>
                </a:solidFill>
              </a:rPr>
              <a:t>— compliance / forensics / debugging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8321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Де це корисно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22960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A4AE"/>
                </a:solidFill>
              </a:rPr>
              <a:t>Production scenarios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2633472" cy="1188720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36576" cy="118872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399032"/>
            <a:ext cx="2496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B5F6"/>
                </a:solidFill>
              </a:rPr>
              <a:t>Медичнi / юридичнi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00200"/>
            <a:ext cx="24963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Галюцинацiї неприпустимi -&gt; validate + fallback обов'язковi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59" y="1325880"/>
            <a:ext cx="2633472" cy="1188720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108959" y="1325880"/>
            <a:ext cx="36576" cy="118872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0" y="1399032"/>
            <a:ext cx="2496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B5F6"/>
                </a:solidFill>
              </a:rPr>
              <a:t>Batch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600200"/>
            <a:ext cx="24963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Structured failure + JSONL log для кожного документа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97880" y="1325880"/>
            <a:ext cx="2633472" cy="1188720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97880" y="1325880"/>
            <a:ext cx="36576" cy="118872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89320" y="1399032"/>
            <a:ext cx="2496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B5F6"/>
                </a:solidFill>
              </a:rPr>
              <a:t>Фiнансова extraction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600200"/>
            <a:ext cx="24963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Вiдноснi дати -&gt; needs_manual_review, не тихий баг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670048"/>
            <a:ext cx="2633472" cy="1188720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2670048"/>
            <a:ext cx="36576" cy="118872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2743200"/>
            <a:ext cx="2496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B5F6"/>
                </a:solidFill>
              </a:rPr>
              <a:t>Ambiguous inputs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2944368"/>
            <a:ext cx="24963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Manual review замiсть впевненої неправильної вiдповiдi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59" y="2670048"/>
            <a:ext cx="2633472" cy="1188720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108959" y="2670048"/>
            <a:ext cx="36576" cy="118872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0" y="2743200"/>
            <a:ext cx="2496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B5F6"/>
                </a:solidFill>
              </a:rPr>
              <a:t>Regulated pipelines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2944368"/>
            <a:ext cx="24963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Audit trail steps[] для compliance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069080"/>
            <a:ext cx="8321040" cy="502920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0040" y="4069080"/>
            <a:ext cx="36576" cy="50292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8912" y="411479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0A4AE"/>
                </a:solidFill>
              </a:rPr>
              <a:t>Де flow зайвий:  </a:t>
            </a:r>
            <a:r>
              <a:rPr sz="1200">
                <a:solidFill>
                  <a:srgbClr val="FFFFFF"/>
                </a:solidFill>
              </a:rPr>
              <a:t>Простий однозначний текст з одним сигналом (ad-hoc достатньо)  |  Прототипи та one-off скрипти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8321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Що можна покращити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7160" y="960120"/>
            <a:ext cx="4160520" cy="896112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" y="960120"/>
            <a:ext cx="36576" cy="896112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1033272"/>
            <a:ext cx="40233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B5F6"/>
                </a:solidFill>
              </a:rPr>
              <a:t>LLM disambiguation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234440"/>
            <a:ext cx="402335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ambiguous_classification -&gt; GPT-4o-mini замiсть manual_review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" y="1965960"/>
            <a:ext cx="4160520" cy="896112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37160" y="1965960"/>
            <a:ext cx="36576" cy="896112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8600" y="2039112"/>
            <a:ext cx="40233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B5F6"/>
                </a:solidFill>
              </a:rPr>
              <a:t>Fuzzy matching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2240280"/>
            <a:ext cx="402335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rapidfuzz: 'HP' vs 'Hewlett-Packard' — substring не ловить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" y="2971800"/>
            <a:ext cx="4160520" cy="896112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37160" y="2971800"/>
            <a:ext cx="36576" cy="896112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8600" y="3044952"/>
            <a:ext cx="40233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B5F6"/>
                </a:solidFill>
              </a:rPr>
              <a:t>Schema в executor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3246120"/>
            <a:ext cx="402335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wrong-type fields краще виправляти до validate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" y="3977640"/>
            <a:ext cx="4160520" cy="896112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37160" y="3977640"/>
            <a:ext cx="36576" cy="896112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8600" y="4050792"/>
            <a:ext cx="40233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B5F6"/>
                </a:solidFill>
              </a:rPr>
              <a:t>Per-route thresholds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" y="4251960"/>
            <a:ext cx="402335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electronics / religion потребують рiзних confidence порогiв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960120"/>
            <a:ext cx="4160520" cy="896112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80560" y="960120"/>
            <a:ext cx="36576" cy="896112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1033272"/>
            <a:ext cx="40233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B5F6"/>
                </a:solidFill>
              </a:rPr>
              <a:t>Semantic router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1234440"/>
            <a:ext cx="402335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sentence-transformers замiсть keyword counting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1965960"/>
            <a:ext cx="4160520" cy="896112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80560" y="1965960"/>
            <a:ext cx="36576" cy="896112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0" y="2039112"/>
            <a:ext cx="40233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B5F6"/>
                </a:solidFill>
              </a:rPr>
              <a:t>Batch + async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2240280"/>
            <a:ext cx="402335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зараз sequential — для великих датасетiв потрiбен async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2971800"/>
            <a:ext cx="4160520" cy="896112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480560" y="2971800"/>
            <a:ext cx="36576" cy="896112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0" y="3044952"/>
            <a:ext cx="40233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B5F6"/>
                </a:solidFill>
              </a:rPr>
              <a:t>FallbackHandler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246120"/>
            <a:ext cx="402335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роздiлити вiд Executor (зараз однаковi tools)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60" y="3977640"/>
            <a:ext cx="4160520" cy="896112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480560" y="3977640"/>
            <a:ext cx="36576" cy="896112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0" y="4050792"/>
            <a:ext cx="40233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B5F6"/>
                </a:solidFill>
              </a:rPr>
              <a:t>Unit tests per stage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4251960"/>
            <a:ext cx="402335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validate / repair / re-validate — окремо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8321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Висновок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481328"/>
            <a:ext cx="8321040" cy="868680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481328"/>
            <a:ext cx="36576" cy="86868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1545336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Stateful flow корисний не тому що складнiший,</a:t>
            </a:r>
          </a:p>
          <a:p>
            <a:pPr algn="l"/>
            <a:r>
              <a:rPr sz="1400" b="1" i="0">
                <a:solidFill>
                  <a:srgbClr val="64B5F6"/>
                </a:solidFill>
              </a:rPr>
              <a:t>а тому що робить помилки ВИДИМИМИ I КЕРОВАНИМИ.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514600"/>
            <a:ext cx="1965960" cy="1234440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2514600"/>
            <a:ext cx="36576" cy="123444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2578608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64B5F6"/>
                </a:solidFill>
              </a:rPr>
              <a:t>0.954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12724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AE"/>
                </a:solidFill>
              </a:rPr>
              <a:t>Test F1
LinearSVC + char-ngrams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3159" y="2514600"/>
            <a:ext cx="1965960" cy="1234440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423159" y="2514600"/>
            <a:ext cx="36576" cy="123444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14600" y="2578608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64B5F6"/>
                </a:solidFill>
              </a:rPr>
              <a:t>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312724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AE"/>
                </a:solidFill>
              </a:rPr>
              <a:t>Single Agent
correct (10 cases)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26280" y="2514600"/>
            <a:ext cx="1965960" cy="1234440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26280" y="2514600"/>
            <a:ext cx="36576" cy="123444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720" y="2578608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64B5F6"/>
                </a:solidFill>
              </a:rPr>
              <a:t>90%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12724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AE"/>
                </a:solidFill>
              </a:rPr>
              <a:t>Crew
valid output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0" y="2514600"/>
            <a:ext cx="1965960" cy="1234440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629400" y="2514600"/>
            <a:ext cx="36576" cy="123444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20839" y="2578608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64B5F6"/>
                </a:solidFill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39" y="312724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AE"/>
                </a:solidFill>
              </a:rPr>
              <a:t>Flow
export valid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922776"/>
            <a:ext cx="8321040" cy="621792"/>
          </a:xfrm>
          <a:prstGeom prst="rect">
            <a:avLst/>
          </a:prstGeom>
          <a:solidFill>
            <a:srgbClr val="24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" y="3922776"/>
            <a:ext cx="36576" cy="621792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" y="3995928"/>
            <a:ext cx="81838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B5F6"/>
                </a:solidFill>
              </a:rPr>
              <a:t>Стек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197096"/>
            <a:ext cx="81838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Python stdlib  *  sklearn  *  gensim  *  rule-based NLP  *  No LLM API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1086</Words>
  <Application>Microsoft Office PowerPoint</Application>
  <PresentationFormat>Произвольный</PresentationFormat>
  <Paragraphs>276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Я</cp:lastModifiedBy>
  <cp:revision>3</cp:revision>
  <dcterms:created xsi:type="dcterms:W3CDTF">2013-01-27T09:14:16Z</dcterms:created>
  <dcterms:modified xsi:type="dcterms:W3CDTF">2026-05-30T05:58:24Z</dcterms:modified>
  <cp:category/>
</cp:coreProperties>
</file>