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67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Щодня в мережі публікуються мільйони повідомлень. Їх ручна класифікація — неможлива. Наш проект автоматично визначає тему тексту, що корисно для модераторів контенту, дослідників і систем рекомендацій.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Використовуємо публічний датасет 20 Newsgroups — повідомлення з форумів 90-х років. Три класи відносно збалансовані. Персональні дані в текстах є, але ми їх маскуємо ще на етапі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Пайплайн складається з шести кроків. Спочатку текст очищається та нормалізується, потім маскуємо особисті дані. Stanza виконує лематизацію і POS-теґінг. Регулярні вирази витягують сутності. Фінальна класифікація — TF-IDF + логістична регресія з точністю 94.35%.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повертає JSON з трьох полів: label — яку тему визначила модель, confidence — наскільки впевнена (тут 91%), та entities — конкретні об'єкти знайдені в тексті, наприклад напруга 5V або дата. Цей формат легко інтегрується в будь-який сервіс або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 проекті застосовано класичний модульний NLP-підхід. Немає агента-оркестратора у сучасному сенсі — натомість три незалежні Python-модулі в папці src/: preprocess.py, ie_rules.py і classification_baseline.py. Кожен модуль — окрема бібліотека з чітким інтерфейсом. Jupyter Notebook виступає оркестратором: імпортує модулі, послідовно викликає їх і передає дані між ними через pandas DataFrame або CSV-файли. Це стандартна практика в дослідницьких NLP-проектах: модулі легко тестувати, замінювати і розширювати незалежно один від одного.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ризики проекту. Перший — template leakage — вже виправлено: функція strip_footer() прибирає рядок з назвою класу з тексту. Без цього модель досягала 97%, але нечесно. Після виправлення — 94.35%, це реальний результат. Другий ризик — atheism і christian обговорюють схожі теми, тому TF-IDF їх плутає. Рішення: додати витягнуті сутності як ознаки або перейти на BERT, який розуміє контекст. Третій — короткі тексти: мало слів = мало сигналу. Рішення: низький confidence сигналізує про невизначеність, або окрема обробка коротких текстів.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502" y="1188720"/>
            <a:ext cx="73152" cy="219456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класифікація текстів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Курсовий проект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0352" y="3337560"/>
            <a:ext cx="2743200" cy="146304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1502" y="3337560"/>
            <a:ext cx="67454" cy="146304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Неструктуровані тексти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складно класифікувати вручну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337560"/>
            <a:ext cx="2743200" cy="146304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3337560"/>
            <a:ext cx="54864" cy="146304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визначати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тему повідомлення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2743200" cy="146304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337560"/>
            <a:ext cx="54864" cy="146304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Модератори · Дослідники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Рекомендаційні системи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6 383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4352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188720"/>
            <a:ext cx="0" cy="3566160"/>
          </a:xfrm>
          <a:prstGeom prst="line">
            <a:avLst/>
          </a:prstGeom>
          <a:noFill/>
          <a:ln w="12700">
            <a:solidFill>
              <a:srgbClr val="2E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258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 Newsgroups (sklearn / Kaggle)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атеїзм · електроніка · християнство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Розмітка: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31 / 31%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маскуються (&lt;EMAIL&gt;, &lt;URL&gt;, &lt;PHONE&gt;)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6314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4602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602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Очищення</a:t>
            </a:r>
            <a:r>
              <a:rPr lang="uk-UA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нормалізація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8046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6334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34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Лематизація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9778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066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066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510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798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97980" y="1229868"/>
            <a:ext cx="1234440" cy="658368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7980" y="12298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</a:t>
            </a:r>
            <a:r>
              <a:rPr lang="uk-UA" sz="1200" b="1" dirty="0" err="1" smtClean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ікація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24028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4028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· nltk · stanza · pandas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0040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94.35% · Macro F1 94.41%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320040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20040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entities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ELEC_QTY · SCRIPTURE_REF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 системи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"sci.electronics"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"entities"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
    {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"ELEC_QTY"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"5V"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r>
              <a:rPr lang="en-US" sz="1300" dirty="0" smtClean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"January 3, 1993"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0" y="1280160"/>
            <a:ext cx="2971800" cy="9144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1280160"/>
            <a:ext cx="54864" cy="91440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0448" y="1353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0448" y="1755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Передбачений клас тексту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2377440"/>
            <a:ext cx="2971800" cy="9144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377440"/>
            <a:ext cx="54864" cy="91440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0448" y="2852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Впевненість моделі (0 – 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3474720"/>
            <a:ext cx="2971800" cy="9144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3474720"/>
            <a:ext cx="54864" cy="91440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"entities"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3950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Витягнуті сутності з тексту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Архітектура системи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A4AE"/>
                </a:solidFill>
                <a:latin typeface="Calibri"/>
              </a:rPr>
              <a:t>Класичний модульний NLP-підхід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536192"/>
            <a:ext cx="3017520" cy="65836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15361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035"/>
                </a:solidFill>
                <a:latin typeface="Calibri"/>
              </a:rPr>
              <a:t>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019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35"/>
                </a:solidFill>
                <a:latin typeface="Calibri"/>
              </a:rPr>
              <a:t>оркестратор (викликає модулі)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194560"/>
            <a:ext cx="0" cy="292608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2487168"/>
            <a:ext cx="6035040" cy="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08760" y="2487168"/>
            <a:ext cx="0" cy="237744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2724912"/>
            <a:ext cx="2468880" cy="2103120"/>
          </a:xfrm>
          <a:prstGeom prst="rect">
            <a:avLst/>
          </a:prstGeom>
          <a:solidFill>
            <a:srgbClr val="243050"/>
          </a:solidFill>
          <a:ln w="635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724912"/>
            <a:ext cx="2468880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4AE"/>
                </a:solidFill>
                <a:latin typeface="Consolas"/>
              </a:rPr>
              <a:t>src/preprocess.py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44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B5F6"/>
                </a:solidFill>
                <a:latin typeface="Consolas"/>
              </a:rPr>
              <a:t>preprocess(text)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0156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clean → normalize
mask_pii → sentence_split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34840" y="2487168"/>
            <a:ext cx="0" cy="237744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0" y="2724912"/>
            <a:ext cx="2468880" cy="2103120"/>
          </a:xfrm>
          <a:prstGeom prst="rect">
            <a:avLst/>
          </a:prstGeom>
          <a:solidFill>
            <a:srgbClr val="243050"/>
          </a:solidFill>
          <a:ln w="635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2724912"/>
            <a:ext cx="2468880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4AE"/>
                </a:solidFill>
                <a:latin typeface="Consolas"/>
              </a:rPr>
              <a:t>src/ie_rules.py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044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B5F6"/>
                </a:solidFill>
                <a:latin typeface="Consolas"/>
              </a:rPr>
              <a:t>extract_all(text)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0156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extract_dates +
extract_elec_qty +
extract_scripture_refs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60920" y="2487168"/>
            <a:ext cx="0" cy="237744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126480" y="2724912"/>
            <a:ext cx="2468880" cy="2103120"/>
          </a:xfrm>
          <a:prstGeom prst="rect">
            <a:avLst/>
          </a:prstGeom>
          <a:solidFill>
            <a:srgbClr val="243050"/>
          </a:solidFill>
          <a:ln w="635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724912"/>
            <a:ext cx="2468880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4AE"/>
                </a:solidFill>
                <a:latin typeface="Consolas"/>
              </a:rPr>
              <a:t>src/classification_baseline.py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44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B5F6"/>
                </a:solidFill>
                <a:latin typeface="Consolas"/>
              </a:rPr>
              <a:t>make_pipeline()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40156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TfidfVectorizer
→ LogisticRegression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73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AE"/>
                </a:solidFill>
                <a:latin typeface="Calibri"/>
              </a:rPr>
              <a:t>Дані передаються через pandas DataFrame / CSV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Ризики та усунення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651760" cy="3749039"/>
          </a:xfrm>
          <a:prstGeom prst="rect">
            <a:avLst/>
          </a:prstGeom>
          <a:solidFill>
            <a:srgbClr val="243050"/>
          </a:solidFill>
          <a:ln w="9525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51760" cy="6400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BB6A"/>
                </a:solidFill>
                <a:latin typeface="Calibri"/>
              </a:rPr>
              <a:t>ВИПРАВЛЕНО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087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Template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2807"/>
            <a:ext cx="24688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A4AE"/>
                </a:solidFill>
                <a:latin typeface="Calibri"/>
              </a:rPr>
              <a:t>62%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документів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містили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мітку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класу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прямо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в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тексті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lang="uk-UA" sz="1000" b="0" i="0" dirty="0" smtClean="0">
                <a:solidFill>
                  <a:srgbClr val="90A4AE"/>
                </a:solidFill>
                <a:latin typeface="Calibri"/>
              </a:rPr>
              <a:t>-</a:t>
            </a:r>
            <a:r>
              <a:rPr sz="1000" b="0" i="0" dirty="0" smtClean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модель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читала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підказку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, а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не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розуміла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текст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(97.33% accuracy —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нечесний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результат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3246120"/>
            <a:ext cx="2432304" cy="0"/>
          </a:xfrm>
          <a:prstGeom prst="line">
            <a:avLst/>
          </a:prstGeom>
          <a:ln w="6350">
            <a:solidFill>
              <a:srgbClr val="3D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3319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  <a:latin typeface="Calibri"/>
              </a:rPr>
              <a:t>Як виправити: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93592"/>
            <a:ext cx="24688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strip_footer() видаляє metadata-рядок перед навчанням → чесна точність 94.35%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651760" cy="3749039"/>
          </a:xfrm>
          <a:prstGeom prst="rect">
            <a:avLst/>
          </a:prstGeom>
          <a:solidFill>
            <a:srgbClr val="243050"/>
          </a:solidFill>
          <a:ln w="9525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651760" cy="640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234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726"/>
                </a:solidFill>
                <a:latin typeface="Calibri"/>
              </a:rPr>
              <a:t>ПЛАН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5087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Перекриття класів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892807"/>
            <a:ext cx="24688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A4AE"/>
                </a:solidFill>
                <a:latin typeface="Calibri"/>
              </a:rPr>
              <a:t>Atheism і Christian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обговорюють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ті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самі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теми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(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Бог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Біблія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мораль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) </a:t>
            </a:r>
            <a:r>
              <a:rPr lang="uk-UA" sz="1000" b="0" i="0" dirty="0" smtClean="0">
                <a:solidFill>
                  <a:srgbClr val="90A4AE"/>
                </a:solidFill>
                <a:latin typeface="Calibri"/>
              </a:rPr>
              <a:t>-</a:t>
            </a:r>
            <a:r>
              <a:rPr sz="1000" b="0" i="0" dirty="0" smtClean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TF-IDF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плутає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їх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(16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помилок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у confusion matrix)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55848" y="3246120"/>
            <a:ext cx="2432303" cy="0"/>
          </a:xfrm>
          <a:prstGeom prst="line">
            <a:avLst/>
          </a:prstGeom>
          <a:ln w="6350">
            <a:solidFill>
              <a:srgbClr val="3D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55848" y="3319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  <a:latin typeface="Calibri"/>
              </a:rPr>
              <a:t>Як виправити: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593592"/>
            <a:ext cx="24688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Додати IE-ознаки як features; застосувати контекстуальну модель (BERT), яка враховує сенс, а не лише частоту слів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43000"/>
            <a:ext cx="2651760" cy="3749039"/>
          </a:xfrm>
          <a:prstGeom prst="rect">
            <a:avLst/>
          </a:prstGeom>
          <a:solidFill>
            <a:srgbClr val="243050"/>
          </a:solidFill>
          <a:ln w="9525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1143000"/>
            <a:ext cx="2651760" cy="640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234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726"/>
                </a:solidFill>
                <a:latin typeface="Calibri"/>
              </a:rPr>
              <a:t>ПЛАН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5087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Calibri"/>
              </a:rPr>
              <a:t>Короткі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тексти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1892807"/>
            <a:ext cx="24688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90A4AE"/>
                </a:solidFill>
                <a:latin typeface="Calibri"/>
              </a:rPr>
              <a:t>Тексти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&lt; 200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символів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дають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майже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порожній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TF-IDF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вектор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lang="uk-UA" sz="1000" dirty="0">
                <a:solidFill>
                  <a:srgbClr val="90A4AE"/>
                </a:solidFill>
                <a:latin typeface="Calibri"/>
              </a:rPr>
              <a:t>-</a:t>
            </a:r>
            <a:r>
              <a:rPr sz="1000" b="0" i="0" dirty="0" smtClean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модель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не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має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достатньо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сигналу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 (9 </a:t>
            </a:r>
            <a:r>
              <a:rPr sz="1000" b="0" i="0" dirty="0" err="1">
                <a:solidFill>
                  <a:srgbClr val="90A4AE"/>
                </a:solidFill>
                <a:latin typeface="Calibri"/>
              </a:rPr>
              <a:t>помилок</a:t>
            </a:r>
            <a:r>
              <a:rPr sz="1000" b="0" i="0" dirty="0">
                <a:solidFill>
                  <a:srgbClr val="90A4AE"/>
                </a:solidFill>
                <a:latin typeface="Calibri"/>
              </a:rPr>
              <a:t>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44768" y="3246120"/>
            <a:ext cx="2432304" cy="0"/>
          </a:xfrm>
          <a:prstGeom prst="line">
            <a:avLst/>
          </a:prstGeom>
          <a:ln w="6350">
            <a:solidFill>
              <a:srgbClr val="3D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44768" y="3319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  <a:latin typeface="Calibri"/>
              </a:rPr>
              <a:t>Як виправити: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593592"/>
            <a:ext cx="24688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Calibri"/>
              </a:rPr>
              <a:t>Повертати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низький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confidence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як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сигнал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невизначеності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;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відфільтровувати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або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окремо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обробляти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дуже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короткі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тексти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3734</TotalTime>
  <Words>703</Words>
  <Application>Microsoft Office PowerPoint</Application>
  <PresentationFormat>Экран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Курсовий проект</dc:title>
  <dc:subject>PptxGenJS Presentation</dc:subject>
  <dc:creator>PptxGenJS</dc:creator>
  <cp:lastModifiedBy>Я</cp:lastModifiedBy>
  <cp:revision>8</cp:revision>
  <dcterms:created xsi:type="dcterms:W3CDTF">2026-04-01T09:19:12Z</dcterms:created>
  <dcterms:modified xsi:type="dcterms:W3CDTF">2026-04-10T22:23:06Z</dcterms:modified>
</cp:coreProperties>
</file>